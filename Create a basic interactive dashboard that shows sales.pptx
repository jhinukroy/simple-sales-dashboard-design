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72" autoAdjust="0"/>
    <p:restoredTop sz="94660"/>
  </p:normalViewPr>
  <p:slideViewPr>
    <p:cSldViewPr snapToGrid="0">
      <p:cViewPr varScale="1">
        <p:scale>
          <a:sx n="45" d="100"/>
          <a:sy n="45" d="100"/>
        </p:scale>
        <p:origin x="1114"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19248978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1745377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9861747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40107550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29F09F8-AB2F-4CB3-9373-1DDAE8EEDFAC}" type="datetimeFigureOut">
              <a:rPr lang="en-IN" smtClean="0"/>
              <a:t>02-05-2025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3846573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29F09F8-AB2F-4CB3-9373-1DDAE8EEDFAC}" type="datetimeFigureOut">
              <a:rPr lang="en-IN" smtClean="0"/>
              <a:t>02-05-2025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54443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29F09F8-AB2F-4CB3-9373-1DDAE8EEDFAC}" type="datetimeFigureOut">
              <a:rPr lang="en-IN" smtClean="0"/>
              <a:t>02-05-2025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54340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1674269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37324376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982178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5920EB5-2FED-4C6A-8051-BAF3B04CF81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782647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2230771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20EB5-2FED-4C6A-8051-BAF3B04CF81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727210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29F09F8-AB2F-4CB3-9373-1DDAE8EEDFAC}" type="datetimeFigureOut">
              <a:rPr lang="en-IN" smtClean="0"/>
              <a:t>02-05-2025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253595624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340282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29F09F8-AB2F-4CB3-9373-1DDAE8EEDFAC}" type="datetimeFigureOut">
              <a:rPr lang="en-IN" smtClean="0"/>
              <a:t>02-05-2025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5920EB5-2FED-4C6A-8051-BAF3B04CF810}" type="slidenum">
              <a:rPr lang="en-IN" smtClean="0"/>
              <a:t>‹#›</a:t>
            </a:fld>
            <a:endParaRPr lang="en-IN"/>
          </a:p>
        </p:txBody>
      </p:sp>
    </p:spTree>
    <p:extLst>
      <p:ext uri="{BB962C8B-B14F-4D97-AF65-F5344CB8AC3E}">
        <p14:creationId xmlns:p14="http://schemas.microsoft.com/office/powerpoint/2010/main" val="28483517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529F09F8-AB2F-4CB3-9373-1DDAE8EEDFAC}" type="datetimeFigureOut">
              <a:rPr lang="en-IN" smtClean="0"/>
              <a:t>02-05-2025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5920EB5-2FED-4C6A-8051-BAF3B04CF810}" type="slidenum">
              <a:rPr lang="en-IN" smtClean="0"/>
              <a:t>‹#›</a:t>
            </a:fld>
            <a:endParaRPr lang="en-IN"/>
          </a:p>
        </p:txBody>
      </p:sp>
    </p:spTree>
    <p:extLst>
      <p:ext uri="{BB962C8B-B14F-4D97-AF65-F5344CB8AC3E}">
        <p14:creationId xmlns:p14="http://schemas.microsoft.com/office/powerpoint/2010/main" val="37356060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572FC-F6FD-48EF-39DE-EB17B676A1C7}"/>
              </a:ext>
            </a:extLst>
          </p:cNvPr>
          <p:cNvSpPr>
            <a:spLocks noGrp="1"/>
          </p:cNvSpPr>
          <p:nvPr>
            <p:ph type="ctrTitle"/>
          </p:nvPr>
        </p:nvSpPr>
        <p:spPr/>
        <p:txBody>
          <a:bodyPr/>
          <a:lstStyle/>
          <a:p>
            <a:r>
              <a:rPr lang="en-US" sz="4800" b="1" i="0" u="none" strike="noStrike" baseline="0" dirty="0">
                <a:solidFill>
                  <a:srgbClr val="171717"/>
                </a:solidFill>
                <a:latin typeface="TT Chocolates"/>
              </a:rPr>
              <a:t>Create a basic interactive dashboard that shows sales </a:t>
            </a:r>
            <a:r>
              <a:rPr lang="en-US" sz="2800" b="1" i="0" u="none" strike="noStrike" baseline="0" dirty="0">
                <a:solidFill>
                  <a:srgbClr val="171717"/>
                </a:solidFill>
                <a:latin typeface="TT Chocolates"/>
              </a:rPr>
              <a:t>performance by product, region, and month </a:t>
            </a:r>
            <a:endParaRPr lang="en-IN" dirty="0"/>
          </a:p>
        </p:txBody>
      </p:sp>
      <p:sp>
        <p:nvSpPr>
          <p:cNvPr id="3" name="Subtitle 2">
            <a:extLst>
              <a:ext uri="{FF2B5EF4-FFF2-40B4-BE49-F238E27FC236}">
                <a16:creationId xmlns:a16="http://schemas.microsoft.com/office/drawing/2014/main" id="{8497F023-1660-D4C2-D499-1C56660F27F9}"/>
              </a:ext>
            </a:extLst>
          </p:cNvPr>
          <p:cNvSpPr>
            <a:spLocks noGrp="1"/>
          </p:cNvSpPr>
          <p:nvPr>
            <p:ph type="subTitle" idx="1"/>
          </p:nvPr>
        </p:nvSpPr>
        <p:spPr/>
        <p:txBody>
          <a:bodyPr>
            <a:normAutofit/>
          </a:bodyPr>
          <a:lstStyle/>
          <a:p>
            <a:r>
              <a:rPr lang="en-IN" sz="3600" b="1" i="0" u="none" strike="noStrike" baseline="0" dirty="0">
                <a:solidFill>
                  <a:srgbClr val="181818"/>
                </a:solidFill>
                <a:latin typeface="TTChocolates-Bold"/>
              </a:rPr>
              <a:t>Power BI</a:t>
            </a:r>
            <a:endParaRPr lang="en-IN" sz="4400" dirty="0"/>
          </a:p>
        </p:txBody>
      </p:sp>
    </p:spTree>
    <p:extLst>
      <p:ext uri="{BB962C8B-B14F-4D97-AF65-F5344CB8AC3E}">
        <p14:creationId xmlns:p14="http://schemas.microsoft.com/office/powerpoint/2010/main" val="10169197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a:extLst>
              <a:ext uri="{FF2B5EF4-FFF2-40B4-BE49-F238E27FC236}">
                <a16:creationId xmlns:a16="http://schemas.microsoft.com/office/drawing/2014/main" id="{12B2B7DC-EE1A-ABB8-D0BB-84D882C257E9}"/>
              </a:ext>
            </a:extLst>
          </p:cNvPr>
          <p:cNvSpPr>
            <a:spLocks noGrp="1" noChangeArrowheads="1"/>
          </p:cNvSpPr>
          <p:nvPr>
            <p:ph type="title"/>
          </p:nvPr>
        </p:nvSpPr>
        <p:spPr bwMode="auto">
          <a:xfrm>
            <a:off x="383109" y="1516099"/>
            <a:ext cx="11808891"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West region</a:t>
            </a:r>
            <a:r>
              <a:rPr kumimoji="0" lang="en-US" altLang="en-US" sz="2000" b="0" i="0" u="none" strike="noStrike" cap="none" normalizeH="0" baseline="0" dirty="0">
                <a:ln>
                  <a:noFill/>
                </a:ln>
                <a:solidFill>
                  <a:schemeClr val="tx1"/>
                </a:solidFill>
                <a:effectLst/>
                <a:latin typeface="Arial" panose="020B0604020202020204" pitchFamily="34" charset="0"/>
              </a:rPr>
              <a:t> stands out as the top performer in terms of overall sales.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1" i="0" u="none" strike="noStrike" cap="none" normalizeH="0" baseline="0" dirty="0">
                <a:ln>
                  <a:noFill/>
                </a:ln>
                <a:solidFill>
                  <a:schemeClr val="tx1"/>
                </a:solidFill>
                <a:effectLst/>
                <a:latin typeface="Arial" panose="020B0604020202020204" pitchFamily="34" charset="0"/>
              </a:rPr>
              <a:t>South region</a:t>
            </a:r>
            <a:r>
              <a:rPr kumimoji="0" lang="en-US" altLang="en-US" sz="2000" b="0" i="0" u="none" strike="noStrike" cap="none" normalizeH="0" baseline="0" dirty="0">
                <a:ln>
                  <a:noFill/>
                </a:ln>
                <a:solidFill>
                  <a:schemeClr val="tx1"/>
                </a:solidFill>
                <a:effectLst/>
                <a:latin typeface="Arial" panose="020B0604020202020204" pitchFamily="34" charset="0"/>
              </a:rPr>
              <a:t> recorded the lowest sales volume among the four regions.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Sales in the </a:t>
            </a:r>
            <a:r>
              <a:rPr kumimoji="0" lang="en-US" altLang="en-US" sz="2000" b="1" i="0" u="none" strike="noStrike" cap="none" normalizeH="0" baseline="0" dirty="0">
                <a:ln>
                  <a:noFill/>
                </a:ln>
                <a:solidFill>
                  <a:schemeClr val="tx1"/>
                </a:solidFill>
                <a:effectLst/>
                <a:latin typeface="Arial" panose="020B0604020202020204" pitchFamily="34" charset="0"/>
              </a:rPr>
              <a:t>East</a:t>
            </a:r>
            <a:r>
              <a:rPr kumimoji="0" lang="en-US" altLang="en-US" sz="2000" b="0" i="0" u="none" strike="noStrike" cap="none" normalizeH="0" baseline="0" dirty="0">
                <a:ln>
                  <a:noFill/>
                </a:ln>
                <a:solidFill>
                  <a:schemeClr val="tx1"/>
                </a:solidFill>
                <a:effectLst/>
                <a:latin typeface="Arial" panose="020B0604020202020204" pitchFamily="34" charset="0"/>
              </a:rPr>
              <a:t> and </a:t>
            </a:r>
            <a:r>
              <a:rPr kumimoji="0" lang="en-US" altLang="en-US" sz="2000" b="1" i="0" u="none" strike="noStrike" cap="none" normalizeH="0" baseline="0" dirty="0">
                <a:ln>
                  <a:noFill/>
                </a:ln>
                <a:solidFill>
                  <a:schemeClr val="tx1"/>
                </a:solidFill>
                <a:effectLst/>
                <a:latin typeface="Arial" panose="020B0604020202020204" pitchFamily="34" charset="0"/>
              </a:rPr>
              <a:t>Central</a:t>
            </a:r>
            <a:r>
              <a:rPr kumimoji="0" lang="en-US" altLang="en-US" sz="2000" b="0" i="0" u="none" strike="noStrike" cap="none" normalizeH="0" baseline="0" dirty="0">
                <a:ln>
                  <a:noFill/>
                </a:ln>
                <a:solidFill>
                  <a:schemeClr val="tx1"/>
                </a:solidFill>
                <a:effectLst/>
                <a:latin typeface="Arial" panose="020B0604020202020204" pitchFamily="34" charset="0"/>
              </a:rPr>
              <a:t> regions are relatively similar, falling between the top and bottom performers. </a:t>
            </a:r>
          </a:p>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2000" b="1" i="0" u="none" strike="noStrike" cap="none" normalizeH="0" baseline="0" dirty="0">
                <a:ln>
                  <a:noFill/>
                </a:ln>
                <a:solidFill>
                  <a:schemeClr val="tx1"/>
                </a:solidFill>
                <a:effectLst/>
                <a:latin typeface="Arial" panose="020B0604020202020204" pitchFamily="34" charset="0"/>
              </a:rPr>
            </a:br>
            <a:r>
              <a:rPr kumimoji="0" lang="en-US" altLang="en-US" sz="2000" b="1" i="0" u="none" strike="noStrike" cap="none" normalizeH="0" baseline="0" dirty="0">
                <a:ln>
                  <a:noFill/>
                </a:ln>
                <a:solidFill>
                  <a:schemeClr val="tx1"/>
                </a:solidFill>
                <a:effectLst/>
                <a:latin typeface="Arial" panose="020B0604020202020204" pitchFamily="34" charset="0"/>
              </a:rPr>
              <a:t>Sales by Product Category:</a:t>
            </a:r>
            <a:br>
              <a:rPr kumimoji="0" lang="en-US" altLang="en-US" sz="2000" b="1"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Technology</a:t>
            </a:r>
            <a:r>
              <a:rPr kumimoji="0" lang="en-US" altLang="en-US" sz="2000" b="0" i="0" u="none" strike="noStrike" cap="none" normalizeH="0" baseline="0" dirty="0">
                <a:ln>
                  <a:noFill/>
                </a:ln>
                <a:solidFill>
                  <a:schemeClr val="tx1"/>
                </a:solidFill>
                <a:effectLst/>
                <a:latin typeface="Arial" panose="020B0604020202020204" pitchFamily="34" charset="0"/>
              </a:rPr>
              <a:t> products contribute the largest share of the total sales revenue.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Office Supplies</a:t>
            </a:r>
            <a:r>
              <a:rPr kumimoji="0" lang="en-US" altLang="en-US" sz="2000" b="0" i="0" u="none" strike="noStrike" cap="none" normalizeH="0" baseline="0" dirty="0">
                <a:ln>
                  <a:noFill/>
                </a:ln>
                <a:solidFill>
                  <a:schemeClr val="tx1"/>
                </a:solidFill>
                <a:effectLst/>
                <a:latin typeface="Arial" panose="020B0604020202020204" pitchFamily="34" charset="0"/>
              </a:rPr>
              <a:t> also represent a significant portion of the sales.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Furniture</a:t>
            </a:r>
            <a:r>
              <a:rPr kumimoji="0" lang="en-US" altLang="en-US" sz="2000" b="0" i="0" u="none" strike="noStrike" cap="none" normalizeH="0" baseline="0" dirty="0">
                <a:ln>
                  <a:noFill/>
                </a:ln>
                <a:solidFill>
                  <a:schemeClr val="tx1"/>
                </a:solidFill>
                <a:effectLst/>
                <a:latin typeface="Arial" panose="020B0604020202020204" pitchFamily="34" charset="0"/>
              </a:rPr>
              <a:t> has the smallest contribution to the overall sales figures. </a:t>
            </a:r>
            <a:br>
              <a:rPr kumimoji="0" lang="en-US" altLang="en-US" sz="2000" b="0"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chemeClr val="tx1"/>
                </a:solidFill>
                <a:effectLst/>
                <a:latin typeface="Arial" panose="020B0604020202020204" pitchFamily="34" charset="0"/>
              </a:rPr>
              <a:t>Top Performing Customers (Based on Sales):</a:t>
            </a:r>
            <a:br>
              <a:rPr kumimoji="0" lang="en-US" altLang="en-US" sz="2000" b="1" i="0" u="none" strike="noStrike" cap="none" normalizeH="0" baseline="0" dirty="0">
                <a:ln>
                  <a:noFill/>
                </a:ln>
                <a:solidFill>
                  <a:schemeClr val="tx1"/>
                </a:solidFill>
                <a:effectLst/>
                <a:latin typeface="Arial" panose="020B0604020202020204" pitchFamily="34" charset="0"/>
              </a:rPr>
            </a:b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Sean Miller</a:t>
            </a:r>
            <a:r>
              <a:rPr kumimoji="0" lang="en-US" altLang="en-US" sz="2000" b="0" i="0" u="none" strike="noStrike" cap="none" normalizeH="0" baseline="0" dirty="0">
                <a:ln>
                  <a:noFill/>
                </a:ln>
                <a:solidFill>
                  <a:schemeClr val="tx1"/>
                </a:solidFill>
                <a:effectLst/>
                <a:latin typeface="Arial" panose="020B0604020202020204" pitchFamily="34" charset="0"/>
              </a:rPr>
              <a:t> is the customer with the highest total sales value.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65204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F7B6D-0137-5B2E-BA35-5E1707053CB2}"/>
              </a:ext>
            </a:extLst>
          </p:cNvPr>
          <p:cNvSpPr>
            <a:spLocks noGrp="1"/>
          </p:cNvSpPr>
          <p:nvPr>
            <p:ph type="title"/>
          </p:nvPr>
        </p:nvSpPr>
        <p:spPr>
          <a:xfrm>
            <a:off x="838200" y="365125"/>
            <a:ext cx="10515600" cy="701675"/>
          </a:xfrm>
        </p:spPr>
        <p:txBody>
          <a:bodyPr>
            <a:normAutofit/>
          </a:bodyPr>
          <a:lstStyle/>
          <a:p>
            <a:pPr algn="ctr"/>
            <a:r>
              <a:rPr lang="en-IN" sz="4000" b="1" i="0" u="none" strike="noStrike" baseline="0" dirty="0">
                <a:solidFill>
                  <a:srgbClr val="171717"/>
                </a:solidFill>
                <a:latin typeface="TT Chocolates"/>
              </a:rPr>
              <a:t>Sales Dashboard Design </a:t>
            </a:r>
            <a:endParaRPr lang="en-IN" sz="8000" dirty="0"/>
          </a:p>
        </p:txBody>
      </p:sp>
      <p:pic>
        <p:nvPicPr>
          <p:cNvPr id="5" name="Content Placeholder 4" descr="A screenshot of a computer&#10;&#10;AI-generated content may be incorrect.">
            <a:extLst>
              <a:ext uri="{FF2B5EF4-FFF2-40B4-BE49-F238E27FC236}">
                <a16:creationId xmlns:a16="http://schemas.microsoft.com/office/drawing/2014/main" id="{F72FABE0-8A88-21DE-B12D-311D77088D7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199" y="1202268"/>
            <a:ext cx="10515599" cy="5503332"/>
          </a:xfrm>
        </p:spPr>
      </p:pic>
    </p:spTree>
    <p:extLst>
      <p:ext uri="{BB962C8B-B14F-4D97-AF65-F5344CB8AC3E}">
        <p14:creationId xmlns:p14="http://schemas.microsoft.com/office/powerpoint/2010/main" val="2599492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9D9A8-07E2-6C6C-D0FE-97A59FE45A0C}"/>
              </a:ext>
            </a:extLst>
          </p:cNvPr>
          <p:cNvSpPr>
            <a:spLocks noGrp="1"/>
          </p:cNvSpPr>
          <p:nvPr>
            <p:ph type="title"/>
          </p:nvPr>
        </p:nvSpPr>
        <p:spPr>
          <a:xfrm>
            <a:off x="838200" y="2595562"/>
            <a:ext cx="10515600" cy="1666875"/>
          </a:xfrm>
        </p:spPr>
        <p:txBody>
          <a:bodyPr/>
          <a:lstStyle/>
          <a:p>
            <a:pPr algn="ctr"/>
            <a:r>
              <a:rPr lang="en-IN" dirty="0"/>
              <a:t>THANK YOU</a:t>
            </a:r>
          </a:p>
        </p:txBody>
      </p:sp>
    </p:spTree>
    <p:extLst>
      <p:ext uri="{BB962C8B-B14F-4D97-AF65-F5344CB8AC3E}">
        <p14:creationId xmlns:p14="http://schemas.microsoft.com/office/powerpoint/2010/main" val="314334433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TM02892315[[fn=Wisp]]</Template>
  <TotalTime>8</TotalTime>
  <Words>133</Words>
  <Application>Microsoft Office PowerPoint</Application>
  <PresentationFormat>Widescreen</PresentationFormat>
  <Paragraphs>13</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Century Gothic</vt:lpstr>
      <vt:lpstr>TT Chocolates</vt:lpstr>
      <vt:lpstr>TTChocolates-Bold</vt:lpstr>
      <vt:lpstr>Wingdings 3</vt:lpstr>
      <vt:lpstr>Wisp</vt:lpstr>
      <vt:lpstr>Create a basic interactive dashboard that shows sales performance by product, region, and month </vt:lpstr>
      <vt:lpstr>The West region stands out as the top performer in terms of overall sales.  The South region recorded the lowest sales volume among the four regions.  Sales in the East and Central regions are relatively similar, falling between the top and bottom performers.   Sales by Product Category:  Technology products contribute the largest share of the total sales revenue.  Office Supplies also represent a significant portion of the sales.  Furniture has the smallest contribution to the overall sales figures.   Top Performing Customers (Based on Sales):  Sean Miller is the customer with the highest total sales value. </vt:lpstr>
      <vt:lpstr>Sales Dashboard Design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Jhinuk Roy</dc:creator>
  <cp:lastModifiedBy>Jhinuk Roy</cp:lastModifiedBy>
  <cp:revision>2</cp:revision>
  <dcterms:created xsi:type="dcterms:W3CDTF">2025-05-02T14:26:40Z</dcterms:created>
  <dcterms:modified xsi:type="dcterms:W3CDTF">2025-05-02T14:40:32Z</dcterms:modified>
</cp:coreProperties>
</file>